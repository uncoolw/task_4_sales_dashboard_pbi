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6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95000">
              <a:schemeClr val="accent1">
                <a:lumMod val="45000"/>
                <a:lumOff val="55000"/>
                <a:alpha val="71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71472" y="1357460"/>
            <a:ext cx="5207900" cy="646331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  <a:effectLst>
            <a:softEdge rad="317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93270"/>
                </a:solidFill>
              </a:defRPr>
            </a:pP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📊 Sales &amp; Order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8165" y="2594728"/>
            <a:ext cx="5479577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dirty="0"/>
          </a:p>
          <a:p>
            <a:pPr marL="457200" indent="-457200">
              <a:buFont typeface="Wingdings" panose="05000000000000000000" pitchFamily="2" charset="2"/>
              <a:buChar char="Ø"/>
              <a:defRPr sz="2000" b="0">
                <a:solidFill>
                  <a:srgbClr val="000000"/>
                </a:solidFill>
              </a:defRPr>
            </a:pPr>
            <a:r>
              <a:rPr sz="2800" b="1" dirty="0">
                <a:solidFill>
                  <a:srgbClr val="136F8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BI </a:t>
            </a:r>
            <a:endParaRPr lang="en-IN" sz="2800" b="1" dirty="0">
              <a:solidFill>
                <a:srgbClr val="136F8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Wingdings" panose="05000000000000000000" pitchFamily="2" charset="2"/>
              <a:buChar char="Ø"/>
              <a:defRPr sz="2000" b="0">
                <a:solidFill>
                  <a:srgbClr val="000000"/>
                </a:solidFill>
              </a:defRPr>
            </a:pPr>
            <a:r>
              <a:rPr sz="2800" b="1" dirty="0">
                <a:solidFill>
                  <a:srgbClr val="136F8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Kaggle Sales Forecasting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230359" cy="8002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endParaRPr dirty="0"/>
          </a:p>
          <a:p>
            <a:pPr algn="l">
              <a:defRPr sz="2800" b="1">
                <a:solidFill>
                  <a:srgbClr val="000000"/>
                </a:solidFill>
              </a:defRPr>
            </a:pPr>
            <a:r>
              <a:rPr dirty="0"/>
              <a:t>🔢 Key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r>
              <a:rPr dirty="0"/>
              <a:t>• Total Sales: 2.26M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1589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endParaRPr lang="en-IN"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endParaRPr lang="en-IN"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endParaRPr lang="en-IN"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endParaRPr lang="en-IN"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endParaRPr lang="en-IN"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r>
              <a:rPr dirty="0"/>
              <a:t>• Total Orders: 9,800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48796"/>
            <a:ext cx="2970237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IN" dirty="0"/>
          </a:p>
          <a:p>
            <a:endParaRPr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endParaRPr lang="en-IN"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endParaRPr lang="en-IN"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endParaRPr lang="en-IN"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endParaRPr lang="en-IN"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r>
              <a:rPr dirty="0"/>
              <a:t>• Average Order Value: 0.23K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6E6135-8435-D9B9-5853-6881A534BD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01" r="72784" b="73882"/>
          <a:stretch/>
        </p:blipFill>
        <p:spPr>
          <a:xfrm>
            <a:off x="4411495" y="1293339"/>
            <a:ext cx="1659118" cy="11623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C91968-5C8A-34C3-8375-AE2B95351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113" t="-1" r="40972" b="73883"/>
          <a:stretch/>
        </p:blipFill>
        <p:spPr>
          <a:xfrm>
            <a:off x="4572000" y="2976006"/>
            <a:ext cx="1659119" cy="11623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8E8A71-6082-5F86-9E72-9806DD76E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634" r="10451" b="76636"/>
          <a:stretch/>
        </p:blipFill>
        <p:spPr>
          <a:xfrm>
            <a:off x="4572000" y="4719947"/>
            <a:ext cx="1659118" cy="10398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145518" cy="8002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endParaRPr dirty="0"/>
          </a:p>
          <a:p>
            <a:pPr algn="l">
              <a:defRPr sz="2800" b="1">
                <a:solidFill>
                  <a:srgbClr val="000000"/>
                </a:solidFill>
              </a:defRPr>
            </a:pPr>
            <a:r>
              <a:rPr dirty="0"/>
              <a:t>📈 Visual Overview</a:t>
            </a:r>
          </a:p>
        </p:txBody>
      </p:sp>
      <p:pic>
        <p:nvPicPr>
          <p:cNvPr id="3" name="Picture 2" descr="{5FBB884E-C7EC-4741-B2B4-73F96126A00B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89998"/>
            <a:ext cx="7315200" cy="3711622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19097"/>
            <a:ext cx="7022969" cy="82484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endParaRPr dirty="0"/>
          </a:p>
          <a:p>
            <a:pPr algn="l">
              <a:defRPr sz="2800" b="1">
                <a:solidFill>
                  <a:srgbClr val="000000"/>
                </a:solidFill>
              </a:defRPr>
            </a:pPr>
            <a:r>
              <a:rPr dirty="0"/>
              <a:t>🔍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1276" y="1199089"/>
            <a:ext cx="6638227" cy="7232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50" dirty="0"/>
          </a:p>
          <a:p>
            <a:pPr marL="342900" indent="-342900" algn="l">
              <a:buFont typeface="Wingdings" panose="05000000000000000000" pitchFamily="2" charset="2"/>
              <a:buChar char="§"/>
              <a:defRPr sz="1800" b="1">
                <a:solidFill>
                  <a:srgbClr val="000000"/>
                </a:solidFill>
              </a:defRPr>
            </a:pPr>
            <a:r>
              <a:rPr sz="2050" dirty="0"/>
              <a:t>Sales peak seasonally (notable spikes in 2015 and 2017)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293E86-60B5-25A3-273F-4CBEA0CC0B41}"/>
              </a:ext>
            </a:extLst>
          </p:cNvPr>
          <p:cNvGrpSpPr/>
          <p:nvPr/>
        </p:nvGrpSpPr>
        <p:grpSpPr>
          <a:xfrm>
            <a:off x="741276" y="1645920"/>
            <a:ext cx="5920275" cy="2011179"/>
            <a:chOff x="741276" y="1645920"/>
            <a:chExt cx="5920275" cy="2011179"/>
          </a:xfrm>
        </p:grpSpPr>
        <p:sp>
          <p:nvSpPr>
            <p:cNvPr id="4" name="TextBox 3"/>
            <p:cNvSpPr txBox="1"/>
            <p:nvPr/>
          </p:nvSpPr>
          <p:spPr>
            <a:xfrm>
              <a:off x="741276" y="1645920"/>
              <a:ext cx="5371407" cy="7232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342900" indent="-342900" algn="dist">
                <a:buFont typeface="Wingdings" panose="05000000000000000000" pitchFamily="2" charset="2"/>
                <a:buChar char="§"/>
              </a:pPr>
              <a:endParaRPr sz="2050" dirty="0"/>
            </a:p>
            <a:p>
              <a:pPr marL="342900" indent="-342900" algn="dist">
                <a:buFont typeface="Wingdings" panose="05000000000000000000" pitchFamily="2" charset="2"/>
                <a:buChar char="§"/>
                <a:defRPr sz="1800" b="1">
                  <a:solidFill>
                    <a:srgbClr val="000000"/>
                  </a:solidFill>
                </a:defRPr>
              </a:pPr>
              <a:r>
                <a:rPr sz="2050" dirty="0"/>
                <a:t>Consumer segment leads across all regions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41276" y="2103120"/>
              <a:ext cx="5439118" cy="6771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285750" indent="-285750" algn="dist">
                <a:buFont typeface="Wingdings" panose="05000000000000000000" pitchFamily="2" charset="2"/>
                <a:buChar char="§"/>
              </a:pPr>
              <a:endParaRPr dirty="0"/>
            </a:p>
            <a:p>
              <a:pPr marL="342900" indent="-342900" algn="dist">
                <a:buFont typeface="Wingdings" panose="05000000000000000000" pitchFamily="2" charset="2"/>
                <a:buChar char="§"/>
                <a:defRPr sz="1800" b="1">
                  <a:solidFill>
                    <a:srgbClr val="000000"/>
                  </a:solidFill>
                </a:defRPr>
              </a:pPr>
              <a:r>
                <a:rPr sz="2000" dirty="0"/>
                <a:t>West and East regions bring in most revenue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41276" y="2560320"/>
              <a:ext cx="5920275" cy="684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285750" indent="-285750" algn="dist">
                <a:buFont typeface="Wingdings" panose="05000000000000000000" pitchFamily="2" charset="2"/>
                <a:buChar char="§"/>
                <a:defRPr sz="1800" b="1">
                  <a:solidFill>
                    <a:srgbClr val="000000"/>
                  </a:solidFill>
                </a:defRPr>
              </a:pPr>
              <a:endParaRPr lang="en-IN" dirty="0"/>
            </a:p>
            <a:p>
              <a:pPr marL="342900" indent="-342900" algn="dist">
                <a:buFont typeface="Wingdings" panose="05000000000000000000" pitchFamily="2" charset="2"/>
                <a:buChar char="§"/>
                <a:defRPr sz="1800" b="1">
                  <a:solidFill>
                    <a:srgbClr val="000000"/>
                  </a:solidFill>
                </a:defRPr>
              </a:pPr>
              <a:r>
                <a:rPr sz="2050" dirty="0"/>
                <a:t>Average order value remains steady across time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1276" y="2972296"/>
              <a:ext cx="5640518" cy="6848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dist"/>
              <a:endParaRPr lang="en-IN" dirty="0"/>
            </a:p>
            <a:p>
              <a:pPr marL="342900" indent="-342900" algn="dist">
                <a:buFont typeface="Wingdings" panose="05000000000000000000" pitchFamily="2" charset="2"/>
                <a:buChar char="§"/>
                <a:defRPr sz="1800" b="1">
                  <a:solidFill>
                    <a:srgbClr val="000000"/>
                  </a:solidFill>
                </a:defRPr>
              </a:pPr>
              <a:r>
                <a:rPr lang="en-IN" sz="2050" dirty="0"/>
                <a:t>Consistent growth trend signals stable demand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0000" endA="275" endPos="40000" dist="101600" dir="5400000" sy="-100000" algn="bl" rotWithShape="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endParaRPr dirty="0"/>
          </a:p>
          <a:p>
            <a:pPr algn="l">
              <a:defRPr sz="2800" b="1">
                <a:solidFill>
                  <a:srgbClr val="000000"/>
                </a:solidFill>
              </a:defRPr>
            </a:pPr>
            <a:r>
              <a:rPr dirty="0"/>
              <a:t>🚀 What’s Next?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r>
              <a:rPr dirty="0"/>
              <a:t>• Design an executive summary report for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r>
              <a:rPr dirty="0"/>
              <a:t>• Incorporate profit metrics once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r>
              <a:rPr dirty="0"/>
              <a:t>• Predict future sales trends using forecasting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800" b="1">
                <a:solidFill>
                  <a:srgbClr val="000000"/>
                </a:solidFill>
              </a:defRPr>
            </a:pPr>
            <a:r>
              <a:rPr dirty="0"/>
              <a:t>• </a:t>
            </a:r>
            <a:r>
              <a:rPr lang="en-US" dirty="0"/>
              <a:t>Analyze customer behavior with segmentation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F453EA-50EB-728C-33D3-33E0791FE52F}"/>
              </a:ext>
            </a:extLst>
          </p:cNvPr>
          <p:cNvSpPr/>
          <p:nvPr/>
        </p:nvSpPr>
        <p:spPr>
          <a:xfrm>
            <a:off x="4817097" y="5882326"/>
            <a:ext cx="3497344" cy="18853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AF750E-3928-43D9-9EE5-1FE07B35D615}"/>
              </a:ext>
            </a:extLst>
          </p:cNvPr>
          <p:cNvSpPr/>
          <p:nvPr/>
        </p:nvSpPr>
        <p:spPr>
          <a:xfrm>
            <a:off x="7824247" y="4236406"/>
            <a:ext cx="141402" cy="23152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106</Words>
  <Application>Microsoft Office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 verma</cp:lastModifiedBy>
  <cp:revision>2</cp:revision>
  <dcterms:created xsi:type="dcterms:W3CDTF">2013-01-27T09:14:16Z</dcterms:created>
  <dcterms:modified xsi:type="dcterms:W3CDTF">2025-04-14T12:04:57Z</dcterms:modified>
  <cp:category/>
</cp:coreProperties>
</file>